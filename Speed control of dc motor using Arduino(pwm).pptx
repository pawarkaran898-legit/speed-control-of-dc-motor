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20"/>
  </p:notesMasterIdLst>
  <p:handoutMasterIdLst>
    <p:handoutMasterId r:id="rId21"/>
  </p:handoutMasterIdLst>
  <p:sldIdLst>
    <p:sldId id="256" r:id="rId5"/>
    <p:sldId id="257" r:id="rId6"/>
    <p:sldId id="259" r:id="rId7"/>
    <p:sldId id="261" r:id="rId8"/>
    <p:sldId id="264" r:id="rId9"/>
    <p:sldId id="260" r:id="rId10"/>
    <p:sldId id="265" r:id="rId11"/>
    <p:sldId id="266" r:id="rId12"/>
    <p:sldId id="267" r:id="rId13"/>
    <p:sldId id="269" r:id="rId14"/>
    <p:sldId id="273" r:id="rId15"/>
    <p:sldId id="270" r:id="rId16"/>
    <p:sldId id="275" r:id="rId17"/>
    <p:sldId id="274" r:id="rId18"/>
    <p:sldId id="25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11/5/2025</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11/5/2025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11/5/2025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11/5/2025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ijcrt.org/papers/IJCRT24A3352.pdf" TargetMode="External"/><Relationship Id="rId2" Type="http://schemas.openxmlformats.org/officeDocument/2006/relationships/hyperlink" Target="https://circuitdigest.com/microcontroller-projects/dc-motor-control-with-arduino-uno-pwm" TargetMode="External"/><Relationship Id="rId1" Type="http://schemas.openxmlformats.org/officeDocument/2006/relationships/slideLayout" Target="../slideLayouts/slideLayout2.xml"/><Relationship Id="rId5" Type="http://schemas.openxmlformats.org/officeDocument/2006/relationships/hyperlink" Target="https://www.scirp.org/pdf/Oalib2025%2012null_1113007.pdf" TargetMode="External"/><Relationship Id="rId4" Type="http://schemas.openxmlformats.org/officeDocument/2006/relationships/hyperlink" Target="https://ieeexplore.ieee.org/document/1092398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p:txBody>
          <a:bodyPr>
            <a:normAutofit/>
          </a:bodyPr>
          <a:lstStyle/>
          <a:p>
            <a:pPr algn="ctr"/>
            <a:r>
              <a:rPr lang="en-US" sz="5400" dirty="0">
                <a:solidFill>
                  <a:schemeClr val="bg1"/>
                </a:solidFill>
              </a:rPr>
              <a:t>Speed control of dc motor using Arduino(</a:t>
            </a:r>
            <a:r>
              <a:rPr lang="en-US" sz="5400" dirty="0" err="1">
                <a:solidFill>
                  <a:schemeClr val="bg1"/>
                </a:solidFill>
              </a:rPr>
              <a:t>pwm</a:t>
            </a:r>
            <a:r>
              <a:rPr lang="en-US" sz="5400" dirty="0">
                <a:solidFill>
                  <a:schemeClr val="bg1"/>
                </a:solidFill>
              </a:rPr>
              <a:t> method)</a:t>
            </a:r>
          </a:p>
        </p:txBody>
      </p:sp>
      <p:sp>
        <p:nvSpPr>
          <p:cNvPr id="3" name="Subtitle 2">
            <a:extLst>
              <a:ext uri="{FF2B5EF4-FFF2-40B4-BE49-F238E27FC236}">
                <a16:creationId xmlns:a16="http://schemas.microsoft.com/office/drawing/2014/main" id="{2E78725B-6E40-4D82-B375-7831D81C29EE}"/>
              </a:ext>
            </a:extLst>
          </p:cNvPr>
          <p:cNvSpPr>
            <a:spLocks noGrp="1"/>
          </p:cNvSpPr>
          <p:nvPr>
            <p:ph type="subTitle" idx="1"/>
          </p:nvPr>
        </p:nvSpPr>
        <p:spPr/>
        <p:txBody>
          <a:bodyPr>
            <a:normAutofit/>
          </a:bodyPr>
          <a:lstStyle/>
          <a:p>
            <a:pPr algn="ctr"/>
            <a:r>
              <a:rPr lang="en-US" sz="2400" dirty="0">
                <a:latin typeface="+mj-lt"/>
                <a:ea typeface="Tahoma" panose="020B0604030504040204" pitchFamily="34" charset="0"/>
                <a:cs typeface="Tahoma" panose="020B0604030504040204" pitchFamily="34" charset="0"/>
              </a:rPr>
              <a:t>Karan </a:t>
            </a:r>
            <a:r>
              <a:rPr lang="en-US" sz="2400" dirty="0" err="1">
                <a:latin typeface="+mj-lt"/>
                <a:ea typeface="Tahoma" panose="020B0604030504040204" pitchFamily="34" charset="0"/>
                <a:cs typeface="Tahoma" panose="020B0604030504040204" pitchFamily="34" charset="0"/>
              </a:rPr>
              <a:t>pawar</a:t>
            </a:r>
            <a:r>
              <a:rPr lang="en-US" sz="2400" dirty="0">
                <a:latin typeface="+mj-lt"/>
                <a:ea typeface="Tahoma" panose="020B0604030504040204" pitchFamily="34" charset="0"/>
                <a:cs typeface="Tahoma" panose="020B0604030504040204" pitchFamily="34" charset="0"/>
              </a:rPr>
              <a:t> 23bee0038</a:t>
            </a:r>
          </a:p>
          <a:p>
            <a:pPr algn="ctr"/>
            <a:r>
              <a:rPr lang="en-US" sz="2400" dirty="0">
                <a:latin typeface="+mj-lt"/>
                <a:ea typeface="Tahoma" panose="020B0604030504040204" pitchFamily="34" charset="0"/>
                <a:cs typeface="Tahoma" panose="020B0604030504040204" pitchFamily="34" charset="0"/>
              </a:rPr>
              <a:t>Ayush Bharadwaj 23bee0118</a:t>
            </a:r>
          </a:p>
          <a:p>
            <a:pPr algn="ctr"/>
            <a:r>
              <a:rPr lang="en-US" sz="2400" dirty="0">
                <a:latin typeface="+mj-lt"/>
                <a:ea typeface="Tahoma" panose="020B0604030504040204" pitchFamily="34" charset="0"/>
                <a:cs typeface="Tahoma" panose="020B0604030504040204" pitchFamily="34" charset="0"/>
              </a:rPr>
              <a:t>Md Furqaan Ansari 23bee0081</a:t>
            </a:r>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4" y="0"/>
            <a:ext cx="9905998" cy="1478570"/>
          </a:xfrm>
        </p:spPr>
        <p:txBody>
          <a:bodyPr>
            <a:normAutofit/>
          </a:bodyPr>
          <a:lstStyle/>
          <a:p>
            <a:r>
              <a:rPr lang="en-US" sz="2400" b="1" dirty="0">
                <a:solidFill>
                  <a:schemeClr val="bg1"/>
                </a:solidFill>
              </a:rPr>
              <a:t>Aim</a:t>
            </a:r>
            <a:r>
              <a:rPr lang="en-US" sz="2400" dirty="0">
                <a:solidFill>
                  <a:schemeClr val="bg1"/>
                </a:solidFill>
              </a:rPr>
              <a:t>:</a:t>
            </a:r>
            <a:r>
              <a:rPr lang="en-US" sz="2400" cap="none" dirty="0">
                <a:solidFill>
                  <a:schemeClr val="bg1"/>
                </a:solidFill>
              </a:rPr>
              <a:t>-</a:t>
            </a:r>
            <a:br>
              <a:rPr lang="en-US" sz="2000" cap="none" dirty="0">
                <a:solidFill>
                  <a:schemeClr val="bg1"/>
                </a:solidFill>
              </a:rPr>
            </a:br>
            <a:r>
              <a:rPr lang="en-US" sz="2000" cap="none" dirty="0">
                <a:solidFill>
                  <a:schemeClr val="bg1"/>
                </a:solidFill>
              </a:rPr>
              <a:t>To design and implement a simple system to control the speed of a dc motor using </a:t>
            </a:r>
            <a:r>
              <a:rPr lang="en-US" sz="2000" cap="none" dirty="0" err="1">
                <a:solidFill>
                  <a:schemeClr val="bg1"/>
                </a:solidFill>
              </a:rPr>
              <a:t>pwm</a:t>
            </a:r>
            <a:r>
              <a:rPr lang="en-US" sz="2000" cap="none" dirty="0">
                <a:solidFill>
                  <a:schemeClr val="bg1"/>
                </a:solidFill>
              </a:rPr>
              <a:t> signals from an </a:t>
            </a:r>
            <a:r>
              <a:rPr lang="en-US" sz="2000" cap="none" dirty="0" err="1">
                <a:solidFill>
                  <a:schemeClr val="bg1"/>
                </a:solidFill>
              </a:rPr>
              <a:t>arduino</a:t>
            </a:r>
            <a:r>
              <a:rPr lang="en-US" sz="2000" cap="none" dirty="0">
                <a:solidFill>
                  <a:schemeClr val="bg1"/>
                </a:solidFill>
              </a:rPr>
              <a:t>.</a:t>
            </a:r>
            <a:endParaRPr lang="en-US" sz="2000" dirty="0">
              <a:solidFill>
                <a:schemeClr val="bg1"/>
              </a:solidFill>
            </a:endParaRPr>
          </a:p>
        </p:txBody>
      </p:sp>
      <p:sp>
        <p:nvSpPr>
          <p:cNvPr id="5" name="Content Placeholder 4">
            <a:extLst>
              <a:ext uri="{FF2B5EF4-FFF2-40B4-BE49-F238E27FC236}">
                <a16:creationId xmlns:a16="http://schemas.microsoft.com/office/drawing/2014/main" id="{7B85384B-3793-04FB-E669-BE6A2EA19973}"/>
              </a:ext>
            </a:extLst>
          </p:cNvPr>
          <p:cNvSpPr>
            <a:spLocks noGrp="1"/>
          </p:cNvSpPr>
          <p:nvPr>
            <p:ph idx="1"/>
          </p:nvPr>
        </p:nvSpPr>
        <p:spPr>
          <a:xfrm>
            <a:off x="1141413" y="2022037"/>
            <a:ext cx="9905999" cy="3541714"/>
          </a:xfrm>
        </p:spPr>
        <p:txBody>
          <a:bodyPr>
            <a:normAutofit fontScale="85000" lnSpcReduction="20000"/>
          </a:bodyPr>
          <a:lstStyle/>
          <a:p>
            <a:pPr marL="0" indent="0">
              <a:buNone/>
            </a:pPr>
            <a:r>
              <a:rPr lang="en-US" b="1" dirty="0">
                <a:solidFill>
                  <a:schemeClr val="bg1"/>
                </a:solidFill>
                <a:latin typeface="+mj-lt"/>
              </a:rPr>
              <a:t>OBJECTIVE</a:t>
            </a:r>
            <a:r>
              <a:rPr lang="en-US" dirty="0">
                <a:solidFill>
                  <a:schemeClr val="bg1"/>
                </a:solidFill>
                <a:latin typeface="+mj-lt"/>
              </a:rPr>
              <a:t>:-</a:t>
            </a:r>
          </a:p>
          <a:p>
            <a:pPr marL="0" indent="0">
              <a:buNone/>
            </a:pPr>
            <a:r>
              <a:rPr lang="en-US" dirty="0">
                <a:solidFill>
                  <a:schemeClr val="bg1"/>
                </a:solidFill>
                <a:latin typeface="+mj-lt"/>
              </a:rPr>
              <a:t>To design and implement a DC motor control system using Arduino Uno and L293D motor driver.</a:t>
            </a:r>
          </a:p>
          <a:p>
            <a:pPr marL="0" indent="0">
              <a:buNone/>
            </a:pPr>
            <a:r>
              <a:rPr lang="en-US" dirty="0">
                <a:solidFill>
                  <a:schemeClr val="bg1"/>
                </a:solidFill>
                <a:latin typeface="+mj-lt"/>
              </a:rPr>
              <a:t>2. To control the speed of a DC motor through an analog input (potentiometer).</a:t>
            </a:r>
          </a:p>
          <a:p>
            <a:pPr marL="0" indent="0">
              <a:buNone/>
            </a:pPr>
            <a:r>
              <a:rPr lang="en-US" dirty="0">
                <a:solidFill>
                  <a:schemeClr val="bg1"/>
                </a:solidFill>
                <a:latin typeface="+mj-lt"/>
              </a:rPr>
              <a:t>3. To control the direction of rotation (forward and reverse) of the DC motor.</a:t>
            </a:r>
          </a:p>
          <a:p>
            <a:pPr marL="0" indent="0">
              <a:buNone/>
            </a:pPr>
            <a:r>
              <a:rPr lang="en-US" dirty="0">
                <a:solidFill>
                  <a:schemeClr val="bg1"/>
                </a:solidFill>
                <a:latin typeface="+mj-lt"/>
              </a:rPr>
              <a:t>4. To interface a motor driver (L293D) with Arduino for bidirectional motor control.</a:t>
            </a:r>
          </a:p>
          <a:p>
            <a:pPr marL="0" indent="0">
              <a:buNone/>
            </a:pPr>
            <a:r>
              <a:rPr lang="en-US" dirty="0">
                <a:solidFill>
                  <a:schemeClr val="bg1"/>
                </a:solidFill>
                <a:latin typeface="+mj-lt"/>
              </a:rPr>
              <a:t>5. To develop a simple user-controlled setup for variable speed and direction control.</a:t>
            </a:r>
          </a:p>
          <a:p>
            <a:pPr marL="0" indent="0">
              <a:buNone/>
            </a:pPr>
            <a:r>
              <a:rPr lang="en-US" dirty="0">
                <a:solidFill>
                  <a:schemeClr val="bg1"/>
                </a:solidFill>
                <a:latin typeface="+mj-lt"/>
              </a:rPr>
              <a:t>6. To understand PWM (Pulse Width Modulation) technique for motor speed variation.</a:t>
            </a:r>
          </a:p>
          <a:p>
            <a:pPr marL="0" indent="0">
              <a:buNone/>
            </a:pPr>
            <a:r>
              <a:rPr lang="en-US" dirty="0">
                <a:solidFill>
                  <a:schemeClr val="bg1"/>
                </a:solidFill>
                <a:latin typeface="+mj-lt"/>
              </a:rPr>
              <a:t>7. To observe and analyze the effect of PWM duty cycle on the motor speed.</a:t>
            </a:r>
          </a:p>
        </p:txBody>
      </p:sp>
    </p:spTree>
    <p:extLst>
      <p:ext uri="{BB962C8B-B14F-4D97-AF65-F5344CB8AC3E}">
        <p14:creationId xmlns:p14="http://schemas.microsoft.com/office/powerpoint/2010/main" val="3253689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632B4-665C-58DA-71AA-8B7CD83B0411}"/>
              </a:ext>
            </a:extLst>
          </p:cNvPr>
          <p:cNvSpPr>
            <a:spLocks noGrp="1"/>
          </p:cNvSpPr>
          <p:nvPr>
            <p:ph type="title"/>
          </p:nvPr>
        </p:nvSpPr>
        <p:spPr>
          <a:xfrm>
            <a:off x="1141413" y="0"/>
            <a:ext cx="9905998" cy="1478570"/>
          </a:xfrm>
        </p:spPr>
        <p:txBody>
          <a:bodyPr>
            <a:normAutofit/>
          </a:bodyPr>
          <a:lstStyle/>
          <a:p>
            <a:r>
              <a:rPr lang="en-US" sz="2400" b="1" dirty="0">
                <a:solidFill>
                  <a:schemeClr val="bg1"/>
                </a:solidFill>
              </a:rPr>
              <a:t>Introduction</a:t>
            </a:r>
            <a:endParaRPr lang="en-IN" sz="2400" b="1" dirty="0">
              <a:solidFill>
                <a:schemeClr val="bg1"/>
              </a:solidFill>
            </a:endParaRPr>
          </a:p>
        </p:txBody>
      </p:sp>
      <p:sp>
        <p:nvSpPr>
          <p:cNvPr id="3" name="Content Placeholder 2">
            <a:extLst>
              <a:ext uri="{FF2B5EF4-FFF2-40B4-BE49-F238E27FC236}">
                <a16:creationId xmlns:a16="http://schemas.microsoft.com/office/drawing/2014/main" id="{5CA52164-286A-EA76-DDE6-2FC761D034CC}"/>
              </a:ext>
            </a:extLst>
          </p:cNvPr>
          <p:cNvSpPr>
            <a:spLocks noGrp="1"/>
          </p:cNvSpPr>
          <p:nvPr>
            <p:ph idx="1"/>
          </p:nvPr>
        </p:nvSpPr>
        <p:spPr>
          <a:xfrm>
            <a:off x="1150743" y="1838131"/>
            <a:ext cx="9905999" cy="3794044"/>
          </a:xfrm>
        </p:spPr>
        <p:txBody>
          <a:bodyPr>
            <a:normAutofit/>
          </a:bodyPr>
          <a:lstStyle/>
          <a:p>
            <a:pPr marL="0" indent="0">
              <a:buNone/>
            </a:pPr>
            <a:r>
              <a:rPr lang="en-US" sz="2000" dirty="0">
                <a:solidFill>
                  <a:schemeClr val="bg1"/>
                </a:solidFill>
              </a:rPr>
              <a:t>This project aims to control the speed and direction of a DC motor using an Arduino Uno, L293D motor driver, and a </a:t>
            </a:r>
            <a:r>
              <a:rPr lang="en-US" sz="2000" dirty="0" err="1">
                <a:solidFill>
                  <a:schemeClr val="bg1"/>
                </a:solidFill>
              </a:rPr>
              <a:t>potentiometer.The</a:t>
            </a:r>
            <a:r>
              <a:rPr lang="en-US" sz="2000" dirty="0">
                <a:solidFill>
                  <a:schemeClr val="bg1"/>
                </a:solidFill>
              </a:rPr>
              <a:t> potentiometer provides an analog input to Arduino, which generates a PWM signal to vary the motor </a:t>
            </a:r>
            <a:r>
              <a:rPr lang="en-US" sz="2000" dirty="0" err="1">
                <a:solidFill>
                  <a:schemeClr val="bg1"/>
                </a:solidFill>
              </a:rPr>
              <a:t>speed.The</a:t>
            </a:r>
            <a:r>
              <a:rPr lang="en-US" sz="2000" dirty="0">
                <a:solidFill>
                  <a:schemeClr val="bg1"/>
                </a:solidFill>
              </a:rPr>
              <a:t> L293D driver allows the motor to rotate forward or reverse based on the control signals from Arduino.</a:t>
            </a:r>
            <a:endParaRPr lang="en-IN" dirty="0">
              <a:solidFill>
                <a:schemeClr val="bg1"/>
              </a:solidFill>
            </a:endParaRPr>
          </a:p>
        </p:txBody>
      </p:sp>
    </p:spTree>
    <p:extLst>
      <p:ext uri="{BB962C8B-B14F-4D97-AF65-F5344CB8AC3E}">
        <p14:creationId xmlns:p14="http://schemas.microsoft.com/office/powerpoint/2010/main" val="4186087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DD55A-F9F7-6D80-8A3E-94F91AAB2267}"/>
              </a:ext>
            </a:extLst>
          </p:cNvPr>
          <p:cNvSpPr>
            <a:spLocks noGrp="1"/>
          </p:cNvSpPr>
          <p:nvPr>
            <p:ph type="title"/>
          </p:nvPr>
        </p:nvSpPr>
        <p:spPr>
          <a:xfrm>
            <a:off x="1143001" y="0"/>
            <a:ext cx="9905998" cy="1478570"/>
          </a:xfrm>
        </p:spPr>
        <p:txBody>
          <a:bodyPr>
            <a:normAutofit/>
          </a:bodyPr>
          <a:lstStyle/>
          <a:p>
            <a:r>
              <a:rPr lang="en-US" sz="2400" b="1" dirty="0">
                <a:solidFill>
                  <a:schemeClr val="bg1"/>
                </a:solidFill>
              </a:rPr>
              <a:t>Literature review</a:t>
            </a:r>
            <a:endParaRPr lang="en-IN" sz="2400" b="1" dirty="0">
              <a:solidFill>
                <a:schemeClr val="bg1"/>
              </a:solidFill>
            </a:endParaRPr>
          </a:p>
        </p:txBody>
      </p:sp>
      <p:sp>
        <p:nvSpPr>
          <p:cNvPr id="11" name="Rectangle 7">
            <a:extLst>
              <a:ext uri="{FF2B5EF4-FFF2-40B4-BE49-F238E27FC236}">
                <a16:creationId xmlns:a16="http://schemas.microsoft.com/office/drawing/2014/main" id="{5406EBDA-B52D-3F6D-6336-D53CA58F1ABF}"/>
              </a:ext>
            </a:extLst>
          </p:cNvPr>
          <p:cNvSpPr>
            <a:spLocks noGrp="1" noChangeArrowheads="1"/>
          </p:cNvSpPr>
          <p:nvPr>
            <p:ph idx="1"/>
          </p:nvPr>
        </p:nvSpPr>
        <p:spPr bwMode="auto">
          <a:xfrm>
            <a:off x="1085453" y="1200540"/>
            <a:ext cx="1002109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SzTx/>
              <a:buNone/>
            </a:pPr>
            <a:r>
              <a:rPr lang="en-US" altLang="en-US" sz="2000" dirty="0">
                <a:solidFill>
                  <a:schemeClr val="bg1"/>
                </a:solidFill>
              </a:rPr>
              <a:t>1)DC Motor Control Basics:</a:t>
            </a:r>
          </a:p>
          <a:p>
            <a:pPr marL="0" indent="0" eaLnBrk="0" fontAlgn="base" hangingPunct="0">
              <a:lnSpc>
                <a:spcPct val="100000"/>
              </a:lnSpc>
              <a:spcBef>
                <a:spcPct val="0"/>
              </a:spcBef>
              <a:spcAft>
                <a:spcPct val="0"/>
              </a:spcAft>
              <a:buSzTx/>
              <a:buNone/>
            </a:pPr>
            <a:r>
              <a:rPr lang="en-US" altLang="en-US" sz="2000" dirty="0">
                <a:solidFill>
                  <a:schemeClr val="bg1"/>
                </a:solidFill>
              </a:rPr>
              <a:t>Early works establish voltage and armature-current control for speed regulation in brushed DC motors; PWM emerged as an efficient method to vary average voltage without large losses.</a:t>
            </a:r>
          </a:p>
          <a:p>
            <a:pPr marL="0" indent="0" eaLnBrk="0" fontAlgn="base" hangingPunct="0">
              <a:lnSpc>
                <a:spcPct val="100000"/>
              </a:lnSpc>
              <a:spcBef>
                <a:spcPct val="0"/>
              </a:spcBef>
              <a:spcAft>
                <a:spcPct val="0"/>
              </a:spcAft>
              <a:buSzTx/>
              <a:buNone/>
            </a:pPr>
            <a:endParaRPr lang="en-US" altLang="en-US" sz="2000" dirty="0">
              <a:solidFill>
                <a:schemeClr val="bg1"/>
              </a:solidFill>
            </a:endParaRPr>
          </a:p>
          <a:p>
            <a:pPr marL="0" indent="0" eaLnBrk="0" fontAlgn="base" hangingPunct="0">
              <a:lnSpc>
                <a:spcPct val="100000"/>
              </a:lnSpc>
              <a:spcBef>
                <a:spcPct val="0"/>
              </a:spcBef>
              <a:spcAft>
                <a:spcPct val="0"/>
              </a:spcAft>
              <a:buSzTx/>
              <a:buNone/>
            </a:pPr>
            <a:r>
              <a:rPr lang="en-US" altLang="en-US" sz="2000" dirty="0">
                <a:solidFill>
                  <a:schemeClr val="bg1"/>
                </a:solidFill>
              </a:rPr>
              <a:t>2)PWM for Speed </a:t>
            </a:r>
            <a:r>
              <a:rPr lang="en-US" altLang="en-US" sz="2000" dirty="0" err="1">
                <a:solidFill>
                  <a:schemeClr val="bg1"/>
                </a:solidFill>
              </a:rPr>
              <a:t>Control:PWM</a:t>
            </a:r>
            <a:r>
              <a:rPr lang="en-US" altLang="en-US" sz="2000" dirty="0">
                <a:solidFill>
                  <a:schemeClr val="bg1"/>
                </a:solidFill>
              </a:rPr>
              <a:t> duty cycle linearly relates to average motor voltage; studies show improved efficiency and thermal performance vs. linear regulation.</a:t>
            </a:r>
          </a:p>
          <a:p>
            <a:pPr marL="0" indent="0" eaLnBrk="0" fontAlgn="base" hangingPunct="0">
              <a:lnSpc>
                <a:spcPct val="100000"/>
              </a:lnSpc>
              <a:spcBef>
                <a:spcPct val="0"/>
              </a:spcBef>
              <a:spcAft>
                <a:spcPct val="0"/>
              </a:spcAft>
              <a:buSzTx/>
              <a:buNone/>
            </a:pPr>
            <a:endParaRPr lang="en-US" altLang="en-US" sz="2000" dirty="0">
              <a:solidFill>
                <a:schemeClr val="bg1"/>
              </a:solidFill>
            </a:endParaRPr>
          </a:p>
          <a:p>
            <a:pPr marL="0" indent="0" eaLnBrk="0" fontAlgn="base" hangingPunct="0">
              <a:lnSpc>
                <a:spcPct val="100000"/>
              </a:lnSpc>
              <a:spcBef>
                <a:spcPct val="0"/>
              </a:spcBef>
              <a:spcAft>
                <a:spcPct val="0"/>
              </a:spcAft>
              <a:buSzTx/>
              <a:buNone/>
            </a:pPr>
            <a:r>
              <a:rPr lang="en-US" altLang="en-US" sz="2000" dirty="0">
                <a:solidFill>
                  <a:schemeClr val="bg1"/>
                </a:solidFill>
              </a:rPr>
              <a:t>3)H-Bridge Drivers (L293D/L298):Classic bipolar H-bridge ICs enable bidirectional control with current limiting; widely used in low–medium power educational and prototyping setups.</a:t>
            </a:r>
          </a:p>
          <a:p>
            <a:pPr marL="0" indent="0" eaLnBrk="0" fontAlgn="base" hangingPunct="0">
              <a:lnSpc>
                <a:spcPct val="100000"/>
              </a:lnSpc>
              <a:spcBef>
                <a:spcPct val="0"/>
              </a:spcBef>
              <a:spcAft>
                <a:spcPct val="0"/>
              </a:spcAft>
              <a:buSzTx/>
              <a:buNone/>
            </a:pPr>
            <a:endParaRPr kumimoji="0" lang="en-US" altLang="en-US" sz="2000" b="0" i="0" u="none" strike="noStrike" cap="none" normalizeH="0" baseline="0" dirty="0">
              <a:ln>
                <a:noFill/>
              </a:ln>
              <a:solidFill>
                <a:schemeClr val="bg1"/>
              </a:solidFill>
              <a:effectLst/>
            </a:endParaRPr>
          </a:p>
          <a:p>
            <a:pPr marL="0" indent="0" eaLnBrk="0" fontAlgn="base" hangingPunct="0">
              <a:lnSpc>
                <a:spcPct val="100000"/>
              </a:lnSpc>
              <a:spcBef>
                <a:spcPct val="0"/>
              </a:spcBef>
              <a:spcAft>
                <a:spcPct val="0"/>
              </a:spcAft>
              <a:buSzTx/>
              <a:buNone/>
            </a:pPr>
            <a:r>
              <a:rPr lang="en-US" altLang="en-US" sz="2000" dirty="0">
                <a:solidFill>
                  <a:schemeClr val="bg1"/>
                </a:solidFill>
              </a:rPr>
              <a:t>4)Microcontroller-Based Control (Arduino):Literature highlights Arduino as a low-cost, rapid-prototyping platform for motor control—simple ADC-to-PWM pipelines for analog inputs (e.g., potentiometer).</a:t>
            </a:r>
          </a:p>
          <a:p>
            <a:pPr marL="0" indent="0" eaLnBrk="0" fontAlgn="base" hangingPunct="0">
              <a:lnSpc>
                <a:spcPct val="100000"/>
              </a:lnSpc>
              <a:spcBef>
                <a:spcPct val="0"/>
              </a:spcBef>
              <a:spcAft>
                <a:spcPct val="0"/>
              </a:spcAft>
              <a:buSzTx/>
              <a:buNone/>
            </a:pPr>
            <a:endParaRPr lang="en-US" altLang="en-US" sz="2000" dirty="0">
              <a:solidFill>
                <a:schemeClr val="bg1"/>
              </a:solidFill>
            </a:endParaRPr>
          </a:p>
          <a:p>
            <a:pPr marL="0" indent="0" eaLnBrk="0" fontAlgn="base" hangingPunct="0">
              <a:lnSpc>
                <a:spcPct val="100000"/>
              </a:lnSpc>
              <a:spcBef>
                <a:spcPct val="0"/>
              </a:spcBef>
              <a:spcAft>
                <a:spcPct val="0"/>
              </a:spcAft>
              <a:buSzTx/>
              <a:buNone/>
            </a:pPr>
            <a:r>
              <a:rPr lang="en-US" altLang="en-US" sz="2000" dirty="0">
                <a:solidFill>
                  <a:schemeClr val="bg1"/>
                </a:solidFill>
              </a:rPr>
              <a:t>5)Direction + Speed via Two-Input </a:t>
            </a:r>
            <a:r>
              <a:rPr lang="en-US" altLang="en-US" sz="2000" dirty="0" err="1">
                <a:solidFill>
                  <a:schemeClr val="bg1"/>
                </a:solidFill>
              </a:rPr>
              <a:t>Logic:Common</a:t>
            </a:r>
            <a:r>
              <a:rPr lang="en-US" altLang="en-US" sz="2000" dirty="0">
                <a:solidFill>
                  <a:schemeClr val="bg1"/>
                </a:solidFill>
              </a:rPr>
              <a:t> approach uses two direction pins + one PWM enable; dead-zone handling around mid-ADC improves stability and prevents chatter.</a:t>
            </a:r>
            <a:endParaRPr kumimoji="0" lang="en-US" altLang="en-US" sz="2000" b="0" i="0"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1907632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3C99CD-9415-82FB-0A5F-42B76132A31F}"/>
              </a:ext>
            </a:extLst>
          </p:cNvPr>
          <p:cNvSpPr>
            <a:spLocks noGrp="1"/>
          </p:cNvSpPr>
          <p:nvPr>
            <p:ph idx="1"/>
          </p:nvPr>
        </p:nvSpPr>
        <p:spPr>
          <a:xfrm>
            <a:off x="1143000" y="1167982"/>
            <a:ext cx="9905999" cy="4522035"/>
          </a:xfrm>
        </p:spPr>
        <p:txBody>
          <a:bodyPr>
            <a:noAutofit/>
          </a:bodyPr>
          <a:lstStyle/>
          <a:p>
            <a:pPr marL="0" lvl="0" indent="0" eaLnBrk="0" fontAlgn="base" hangingPunct="0">
              <a:lnSpc>
                <a:spcPct val="100000"/>
              </a:lnSpc>
              <a:spcBef>
                <a:spcPct val="0"/>
              </a:spcBef>
              <a:spcAft>
                <a:spcPct val="0"/>
              </a:spcAft>
              <a:buSzTx/>
              <a:buNone/>
            </a:pPr>
            <a:r>
              <a:rPr lang="en-US" altLang="en-US" sz="2000" dirty="0">
                <a:solidFill>
                  <a:schemeClr val="bg1"/>
                </a:solidFill>
              </a:rPr>
              <a:t>6)Control </a:t>
            </a:r>
            <a:r>
              <a:rPr lang="en-US" altLang="en-US" sz="2000" dirty="0" err="1">
                <a:solidFill>
                  <a:schemeClr val="bg1"/>
                </a:solidFill>
              </a:rPr>
              <a:t>Enhancements:PID</a:t>
            </a:r>
            <a:r>
              <a:rPr lang="en-US" altLang="en-US" sz="2000" dirty="0">
                <a:solidFill>
                  <a:schemeClr val="bg1"/>
                </a:solidFill>
              </a:rPr>
              <a:t>/closed-loop control with encoders improves speed regulation under load; current sensing adds protection and better torque control.</a:t>
            </a:r>
          </a:p>
          <a:p>
            <a:pPr marL="0" lvl="0" indent="0" eaLnBrk="0" fontAlgn="base" hangingPunct="0">
              <a:lnSpc>
                <a:spcPct val="100000"/>
              </a:lnSpc>
              <a:spcBef>
                <a:spcPct val="0"/>
              </a:spcBef>
              <a:spcAft>
                <a:spcPct val="0"/>
              </a:spcAft>
              <a:buSzTx/>
              <a:buNone/>
            </a:pPr>
            <a:endParaRPr lang="en-US" altLang="en-US" sz="2000" dirty="0">
              <a:solidFill>
                <a:schemeClr val="bg1"/>
              </a:solidFill>
            </a:endParaRPr>
          </a:p>
          <a:p>
            <a:pPr marL="0" lvl="0" indent="0" eaLnBrk="0" fontAlgn="base" hangingPunct="0">
              <a:lnSpc>
                <a:spcPct val="100000"/>
              </a:lnSpc>
              <a:spcBef>
                <a:spcPct val="0"/>
              </a:spcBef>
              <a:spcAft>
                <a:spcPct val="0"/>
              </a:spcAft>
              <a:buSzTx/>
              <a:buNone/>
            </a:pPr>
            <a:r>
              <a:rPr lang="en-US" altLang="en-US" sz="2000" dirty="0">
                <a:solidFill>
                  <a:schemeClr val="bg1"/>
                </a:solidFill>
              </a:rPr>
              <a:t>7)Applications &amp; </a:t>
            </a:r>
            <a:r>
              <a:rPr lang="en-US" altLang="en-US" sz="2000" dirty="0" err="1">
                <a:solidFill>
                  <a:schemeClr val="bg1"/>
                </a:solidFill>
              </a:rPr>
              <a:t>Trends:Robotics</a:t>
            </a:r>
            <a:r>
              <a:rPr lang="en-US" altLang="en-US" sz="2000" dirty="0">
                <a:solidFill>
                  <a:schemeClr val="bg1"/>
                </a:solidFill>
              </a:rPr>
              <a:t> and EV subsystems use PWM H-bridges extensively; movement toward higher-efficiency drivers and integrated current/thermal protection</a:t>
            </a:r>
          </a:p>
        </p:txBody>
      </p:sp>
    </p:spTree>
    <p:extLst>
      <p:ext uri="{BB962C8B-B14F-4D97-AF65-F5344CB8AC3E}">
        <p14:creationId xmlns:p14="http://schemas.microsoft.com/office/powerpoint/2010/main" val="4169212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B890C-A01D-F908-4CC8-991C90EE27CB}"/>
              </a:ext>
            </a:extLst>
          </p:cNvPr>
          <p:cNvSpPr>
            <a:spLocks noGrp="1"/>
          </p:cNvSpPr>
          <p:nvPr>
            <p:ph type="title"/>
          </p:nvPr>
        </p:nvSpPr>
        <p:spPr>
          <a:xfrm>
            <a:off x="1141413" y="0"/>
            <a:ext cx="9905998" cy="1478570"/>
          </a:xfrm>
        </p:spPr>
        <p:txBody>
          <a:bodyPr>
            <a:normAutofit/>
          </a:bodyPr>
          <a:lstStyle/>
          <a:p>
            <a:r>
              <a:rPr lang="en-US" sz="2400" b="1" dirty="0">
                <a:solidFill>
                  <a:schemeClr val="bg1"/>
                </a:solidFill>
              </a:rPr>
              <a:t>Block diagram</a:t>
            </a:r>
            <a:endParaRPr lang="en-IN" sz="2400" b="1" dirty="0">
              <a:solidFill>
                <a:schemeClr val="bg1"/>
              </a:solidFill>
            </a:endParaRPr>
          </a:p>
        </p:txBody>
      </p:sp>
      <p:pic>
        <p:nvPicPr>
          <p:cNvPr id="7" name="Content Placeholder 6">
            <a:extLst>
              <a:ext uri="{FF2B5EF4-FFF2-40B4-BE49-F238E27FC236}">
                <a16:creationId xmlns:a16="http://schemas.microsoft.com/office/drawing/2014/main" id="{0EF3C5E8-1F48-62F9-C9F3-CCFBF80A9BB9}"/>
              </a:ext>
            </a:extLst>
          </p:cNvPr>
          <p:cNvPicPr>
            <a:picLocks noGrp="1" noChangeAspect="1"/>
          </p:cNvPicPr>
          <p:nvPr>
            <p:ph idx="1"/>
          </p:nvPr>
        </p:nvPicPr>
        <p:blipFill>
          <a:blip r:embed="rId2"/>
          <a:stretch>
            <a:fillRect/>
          </a:stretch>
        </p:blipFill>
        <p:spPr>
          <a:xfrm>
            <a:off x="1763486" y="2220685"/>
            <a:ext cx="8817428" cy="2118049"/>
          </a:xfrm>
          <a:prstGeom prst="rect">
            <a:avLst/>
          </a:prstGeom>
        </p:spPr>
      </p:pic>
    </p:spTree>
    <p:extLst>
      <p:ext uri="{BB962C8B-B14F-4D97-AF65-F5344CB8AC3E}">
        <p14:creationId xmlns:p14="http://schemas.microsoft.com/office/powerpoint/2010/main" val="3292602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41E51-FFE6-ED6C-554F-EEB7ADA04715}"/>
              </a:ext>
            </a:extLst>
          </p:cNvPr>
          <p:cNvSpPr>
            <a:spLocks noGrp="1"/>
          </p:cNvSpPr>
          <p:nvPr>
            <p:ph type="title"/>
          </p:nvPr>
        </p:nvSpPr>
        <p:spPr>
          <a:xfrm>
            <a:off x="1141413" y="0"/>
            <a:ext cx="9905998" cy="1478570"/>
          </a:xfrm>
        </p:spPr>
        <p:txBody>
          <a:bodyPr>
            <a:normAutofit/>
          </a:bodyPr>
          <a:lstStyle/>
          <a:p>
            <a:r>
              <a:rPr lang="en-US" sz="2400" b="1" dirty="0">
                <a:solidFill>
                  <a:schemeClr val="bg1"/>
                </a:solidFill>
              </a:rPr>
              <a:t>Hardware parts</a:t>
            </a:r>
            <a:endParaRPr lang="en-IN" sz="2400" b="1" dirty="0">
              <a:solidFill>
                <a:schemeClr val="bg1"/>
              </a:solidFill>
            </a:endParaRPr>
          </a:p>
        </p:txBody>
      </p:sp>
      <p:sp>
        <p:nvSpPr>
          <p:cNvPr id="3" name="Content Placeholder 2">
            <a:extLst>
              <a:ext uri="{FF2B5EF4-FFF2-40B4-BE49-F238E27FC236}">
                <a16:creationId xmlns:a16="http://schemas.microsoft.com/office/drawing/2014/main" id="{B7EC6439-4151-2812-51D9-72CF1A942460}"/>
              </a:ext>
            </a:extLst>
          </p:cNvPr>
          <p:cNvSpPr>
            <a:spLocks noGrp="1"/>
          </p:cNvSpPr>
          <p:nvPr>
            <p:ph idx="1"/>
          </p:nvPr>
        </p:nvSpPr>
        <p:spPr>
          <a:xfrm>
            <a:off x="1141412" y="1658143"/>
            <a:ext cx="9905999" cy="3541714"/>
          </a:xfrm>
        </p:spPr>
        <p:txBody>
          <a:bodyPr>
            <a:normAutofit/>
          </a:bodyPr>
          <a:lstStyle/>
          <a:p>
            <a:r>
              <a:rPr lang="en-US" sz="2000" dirty="0">
                <a:solidFill>
                  <a:schemeClr val="bg1"/>
                </a:solidFill>
              </a:rPr>
              <a:t>Arduino UNO: Reads analog voltage and generates PWM signals. </a:t>
            </a:r>
          </a:p>
          <a:p>
            <a:r>
              <a:rPr lang="en-US" sz="2000" dirty="0">
                <a:solidFill>
                  <a:schemeClr val="bg1"/>
                </a:solidFill>
              </a:rPr>
              <a:t> L293D Motor Driver: Provides bidirectional control to the motor. • </a:t>
            </a:r>
          </a:p>
          <a:p>
            <a:r>
              <a:rPr lang="en-US" sz="2000" dirty="0">
                <a:solidFill>
                  <a:schemeClr val="bg1"/>
                </a:solidFill>
              </a:rPr>
              <a:t>Potentiometer: Acts as a user input to vary the voltage from 0–5V. • </a:t>
            </a:r>
          </a:p>
          <a:p>
            <a:r>
              <a:rPr lang="en-US" sz="2000" dirty="0">
                <a:solidFill>
                  <a:schemeClr val="bg1"/>
                </a:solidFill>
              </a:rPr>
              <a:t>DC Motor: The load whose speed is being controlled. • </a:t>
            </a:r>
          </a:p>
          <a:p>
            <a:r>
              <a:rPr lang="en-US" sz="2000" dirty="0">
                <a:solidFill>
                  <a:schemeClr val="bg1"/>
                </a:solidFill>
              </a:rPr>
              <a:t>Power Supply: Provides power to Arduino and motor driver.</a:t>
            </a:r>
          </a:p>
        </p:txBody>
      </p:sp>
    </p:spTree>
    <p:extLst>
      <p:ext uri="{BB962C8B-B14F-4D97-AF65-F5344CB8AC3E}">
        <p14:creationId xmlns:p14="http://schemas.microsoft.com/office/powerpoint/2010/main" val="1177157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91B15E0-3AE4-4F18-AC7E-223632D2937B}"/>
              </a:ext>
            </a:extLst>
          </p:cNvPr>
          <p:cNvPicPr>
            <a:picLocks noGrp="1" noChangeAspect="1"/>
          </p:cNvPicPr>
          <p:nvPr>
            <p:ph idx="1"/>
          </p:nvPr>
        </p:nvPicPr>
        <p:blipFill>
          <a:blip r:embed="rId2"/>
          <a:stretch>
            <a:fillRect/>
          </a:stretch>
        </p:blipFill>
        <p:spPr>
          <a:xfrm>
            <a:off x="1987420" y="643812"/>
            <a:ext cx="8033658" cy="5607697"/>
          </a:xfrm>
        </p:spPr>
      </p:pic>
    </p:spTree>
    <p:extLst>
      <p:ext uri="{BB962C8B-B14F-4D97-AF65-F5344CB8AC3E}">
        <p14:creationId xmlns:p14="http://schemas.microsoft.com/office/powerpoint/2010/main" val="217404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0710-483E-782A-84C8-7DEAC33A1C28}"/>
              </a:ext>
            </a:extLst>
          </p:cNvPr>
          <p:cNvSpPr>
            <a:spLocks noGrp="1"/>
          </p:cNvSpPr>
          <p:nvPr>
            <p:ph type="title"/>
          </p:nvPr>
        </p:nvSpPr>
        <p:spPr>
          <a:xfrm>
            <a:off x="1141413" y="0"/>
            <a:ext cx="9905998" cy="1478570"/>
          </a:xfrm>
        </p:spPr>
        <p:txBody>
          <a:bodyPr>
            <a:normAutofit/>
          </a:bodyPr>
          <a:lstStyle/>
          <a:p>
            <a:r>
              <a:rPr lang="en-US" sz="2000" b="1" dirty="0">
                <a:solidFill>
                  <a:schemeClr val="bg1"/>
                </a:solidFill>
                <a:latin typeface="+mn-lt"/>
              </a:rPr>
              <a:t>Working principle</a:t>
            </a:r>
            <a:endParaRPr lang="en-IN" sz="2000" b="1" dirty="0">
              <a:solidFill>
                <a:schemeClr val="bg1"/>
              </a:solidFill>
              <a:latin typeface="+mn-lt"/>
            </a:endParaRPr>
          </a:p>
        </p:txBody>
      </p:sp>
      <p:sp>
        <p:nvSpPr>
          <p:cNvPr id="4" name="Rectangle 1">
            <a:extLst>
              <a:ext uri="{FF2B5EF4-FFF2-40B4-BE49-F238E27FC236}">
                <a16:creationId xmlns:a16="http://schemas.microsoft.com/office/drawing/2014/main" id="{E618285A-20DF-218D-8248-570E50B869F0}"/>
              </a:ext>
            </a:extLst>
          </p:cNvPr>
          <p:cNvSpPr>
            <a:spLocks noGrp="1" noChangeArrowheads="1"/>
          </p:cNvSpPr>
          <p:nvPr>
            <p:ph idx="1"/>
          </p:nvPr>
        </p:nvSpPr>
        <p:spPr bwMode="auto">
          <a:xfrm>
            <a:off x="960420" y="946801"/>
            <a:ext cx="1026798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SzTx/>
              <a:buNone/>
            </a:pPr>
            <a:r>
              <a:rPr lang="en-US" altLang="en-US" sz="2100" dirty="0">
                <a:solidFill>
                  <a:schemeClr val="bg1"/>
                </a:solidFill>
                <a:latin typeface="+mj-lt"/>
              </a:rPr>
              <a:t>1)The potentiometer provides an analog input (0–1023) to the Arduino Uno based on its rotation.</a:t>
            </a:r>
          </a:p>
          <a:p>
            <a:pPr marL="0" lvl="0" indent="0" eaLnBrk="0" fontAlgn="base" hangingPunct="0">
              <a:lnSpc>
                <a:spcPct val="100000"/>
              </a:lnSpc>
              <a:spcBef>
                <a:spcPct val="0"/>
              </a:spcBef>
              <a:spcAft>
                <a:spcPct val="0"/>
              </a:spcAft>
              <a:buSzTx/>
              <a:buNone/>
            </a:pPr>
            <a:endParaRPr lang="en-US" altLang="en-US" sz="2100" dirty="0">
              <a:solidFill>
                <a:schemeClr val="bg1"/>
              </a:solidFill>
              <a:latin typeface="+mj-lt"/>
            </a:endParaRPr>
          </a:p>
          <a:p>
            <a:pPr marL="0" lvl="0" indent="0" eaLnBrk="0" fontAlgn="base" hangingPunct="0">
              <a:lnSpc>
                <a:spcPct val="100000"/>
              </a:lnSpc>
              <a:spcBef>
                <a:spcPct val="0"/>
              </a:spcBef>
              <a:spcAft>
                <a:spcPct val="0"/>
              </a:spcAft>
              <a:buSzTx/>
              <a:buNone/>
            </a:pPr>
            <a:r>
              <a:rPr lang="en-US" altLang="en-US" sz="2100" dirty="0">
                <a:solidFill>
                  <a:schemeClr val="bg1"/>
                </a:solidFill>
                <a:latin typeface="+mj-lt"/>
              </a:rPr>
              <a:t>2)Arduino reads this value and generates a corresponding PWM (Pulse Width Modulated) signal on the enable pin of the L293D motor driver.</a:t>
            </a:r>
          </a:p>
          <a:p>
            <a:pPr marL="0" lvl="0" indent="0" eaLnBrk="0" fontAlgn="base" hangingPunct="0">
              <a:lnSpc>
                <a:spcPct val="100000"/>
              </a:lnSpc>
              <a:spcBef>
                <a:spcPct val="0"/>
              </a:spcBef>
              <a:spcAft>
                <a:spcPct val="0"/>
              </a:spcAft>
              <a:buSzTx/>
              <a:buNone/>
            </a:pPr>
            <a:endParaRPr lang="en-US" altLang="en-US" sz="2100" dirty="0">
              <a:solidFill>
                <a:schemeClr val="bg1"/>
              </a:solidFill>
              <a:latin typeface="+mj-lt"/>
            </a:endParaRPr>
          </a:p>
          <a:p>
            <a:pPr marL="0" lvl="0" indent="0" eaLnBrk="0" fontAlgn="base" hangingPunct="0">
              <a:lnSpc>
                <a:spcPct val="100000"/>
              </a:lnSpc>
              <a:spcBef>
                <a:spcPct val="0"/>
              </a:spcBef>
              <a:spcAft>
                <a:spcPct val="0"/>
              </a:spcAft>
              <a:buSzTx/>
              <a:buNone/>
            </a:pPr>
            <a:r>
              <a:rPr lang="en-US" altLang="en-US" sz="2100" dirty="0">
                <a:solidFill>
                  <a:schemeClr val="bg1"/>
                </a:solidFill>
                <a:latin typeface="+mj-lt"/>
              </a:rPr>
              <a:t>3)The PWM duty cycle controls the average voltage applied to the DC motor, thus varying its speed.</a:t>
            </a:r>
          </a:p>
          <a:p>
            <a:pPr marL="0" lvl="0" indent="0" eaLnBrk="0" fontAlgn="base" hangingPunct="0">
              <a:lnSpc>
                <a:spcPct val="100000"/>
              </a:lnSpc>
              <a:spcBef>
                <a:spcPct val="0"/>
              </a:spcBef>
              <a:spcAft>
                <a:spcPct val="0"/>
              </a:spcAft>
              <a:buSzTx/>
              <a:buNone/>
            </a:pPr>
            <a:endParaRPr lang="en-US" altLang="en-US" sz="2100" dirty="0">
              <a:solidFill>
                <a:schemeClr val="bg1"/>
              </a:solidFill>
              <a:latin typeface="+mj-lt"/>
            </a:endParaRPr>
          </a:p>
          <a:p>
            <a:pPr marL="0" lvl="0" indent="0" eaLnBrk="0" fontAlgn="base" hangingPunct="0">
              <a:lnSpc>
                <a:spcPct val="100000"/>
              </a:lnSpc>
              <a:spcBef>
                <a:spcPct val="0"/>
              </a:spcBef>
              <a:spcAft>
                <a:spcPct val="0"/>
              </a:spcAft>
              <a:buSzTx/>
              <a:buNone/>
            </a:pPr>
            <a:r>
              <a:rPr lang="en-US" altLang="en-US" sz="2100" dirty="0">
                <a:solidFill>
                  <a:schemeClr val="bg1"/>
                </a:solidFill>
                <a:latin typeface="+mj-lt"/>
              </a:rPr>
              <a:t>4)The L293D also controls the direction of rotation — by changing the logic levels on input pins (IN3 and IN4), the current flow through the motor is reversed, allowing forward or reverse motion.</a:t>
            </a:r>
          </a:p>
          <a:p>
            <a:pPr marL="0" lvl="0" indent="0" eaLnBrk="0" fontAlgn="base" hangingPunct="0">
              <a:lnSpc>
                <a:spcPct val="100000"/>
              </a:lnSpc>
              <a:spcBef>
                <a:spcPct val="0"/>
              </a:spcBef>
              <a:spcAft>
                <a:spcPct val="0"/>
              </a:spcAft>
              <a:buSzTx/>
              <a:buNone/>
            </a:pPr>
            <a:endParaRPr lang="en-US" altLang="en-US" sz="2100" dirty="0">
              <a:solidFill>
                <a:schemeClr val="bg1"/>
              </a:solidFill>
              <a:latin typeface="+mj-lt"/>
            </a:endParaRPr>
          </a:p>
          <a:p>
            <a:pPr marL="0" lvl="0" indent="0" eaLnBrk="0" fontAlgn="base" hangingPunct="0">
              <a:lnSpc>
                <a:spcPct val="100000"/>
              </a:lnSpc>
              <a:spcBef>
                <a:spcPct val="0"/>
              </a:spcBef>
              <a:spcAft>
                <a:spcPct val="0"/>
              </a:spcAft>
              <a:buSzTx/>
              <a:buNone/>
            </a:pPr>
            <a:r>
              <a:rPr lang="en-US" altLang="en-US" sz="2100" dirty="0">
                <a:solidFill>
                  <a:schemeClr val="bg1"/>
                </a:solidFill>
                <a:latin typeface="+mj-lt"/>
              </a:rPr>
              <a:t>5)When the potentiometer is in the middle position, both inputs are set LOW, stopping the motor</a:t>
            </a:r>
          </a:p>
          <a:p>
            <a:pPr marL="0" lvl="0" indent="0" eaLnBrk="0" fontAlgn="base" hangingPunct="0">
              <a:lnSpc>
                <a:spcPct val="100000"/>
              </a:lnSpc>
              <a:spcBef>
                <a:spcPct val="0"/>
              </a:spcBef>
              <a:spcAft>
                <a:spcPct val="0"/>
              </a:spcAft>
              <a:buSzTx/>
              <a:buNone/>
            </a:pPr>
            <a:endParaRPr kumimoji="0" lang="en-US" altLang="en-US" sz="2100" i="0" u="none" strike="noStrike" cap="none" normalizeH="0" baseline="0" dirty="0">
              <a:ln>
                <a:noFill/>
              </a:ln>
              <a:solidFill>
                <a:schemeClr val="bg1"/>
              </a:solidFill>
              <a:effectLst/>
              <a:latin typeface="+mj-lt"/>
            </a:endParaRPr>
          </a:p>
        </p:txBody>
      </p:sp>
    </p:spTree>
    <p:extLst>
      <p:ext uri="{BB962C8B-B14F-4D97-AF65-F5344CB8AC3E}">
        <p14:creationId xmlns:p14="http://schemas.microsoft.com/office/powerpoint/2010/main" val="3602911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C32C0-2E2C-73CC-388C-692D7345C204}"/>
              </a:ext>
            </a:extLst>
          </p:cNvPr>
          <p:cNvSpPr>
            <a:spLocks noGrp="1"/>
          </p:cNvSpPr>
          <p:nvPr>
            <p:ph type="title"/>
          </p:nvPr>
        </p:nvSpPr>
        <p:spPr>
          <a:xfrm>
            <a:off x="1141413" y="0"/>
            <a:ext cx="9905998" cy="1478570"/>
          </a:xfrm>
        </p:spPr>
        <p:txBody>
          <a:bodyPr>
            <a:normAutofit/>
          </a:bodyPr>
          <a:lstStyle/>
          <a:p>
            <a:r>
              <a:rPr lang="en-US" sz="2400" b="1" dirty="0">
                <a:solidFill>
                  <a:schemeClr val="bg1"/>
                </a:solidFill>
              </a:rPr>
              <a:t>Circuit diagram</a:t>
            </a:r>
            <a:endParaRPr lang="en-IN" sz="2400" b="1" dirty="0">
              <a:solidFill>
                <a:schemeClr val="bg1"/>
              </a:solidFill>
            </a:endParaRPr>
          </a:p>
        </p:txBody>
      </p:sp>
      <p:pic>
        <p:nvPicPr>
          <p:cNvPr id="7" name="Content Placeholder 6">
            <a:extLst>
              <a:ext uri="{FF2B5EF4-FFF2-40B4-BE49-F238E27FC236}">
                <a16:creationId xmlns:a16="http://schemas.microsoft.com/office/drawing/2014/main" id="{6A679FEC-240C-0500-FB81-C979FCD65647}"/>
              </a:ext>
            </a:extLst>
          </p:cNvPr>
          <p:cNvPicPr>
            <a:picLocks noGrp="1" noChangeAspect="1"/>
          </p:cNvPicPr>
          <p:nvPr>
            <p:ph idx="1"/>
          </p:nvPr>
        </p:nvPicPr>
        <p:blipFill>
          <a:blip r:embed="rId2"/>
          <a:stretch>
            <a:fillRect/>
          </a:stretch>
        </p:blipFill>
        <p:spPr>
          <a:xfrm>
            <a:off x="1212980" y="1399592"/>
            <a:ext cx="9834431" cy="4478694"/>
          </a:xfrm>
        </p:spPr>
      </p:pic>
      <p:cxnSp>
        <p:nvCxnSpPr>
          <p:cNvPr id="9" name="Straight Connector 8">
            <a:extLst>
              <a:ext uri="{FF2B5EF4-FFF2-40B4-BE49-F238E27FC236}">
                <a16:creationId xmlns:a16="http://schemas.microsoft.com/office/drawing/2014/main" id="{B58BBC0A-1464-2D07-4DEF-F161E4F36EB2}"/>
              </a:ext>
            </a:extLst>
          </p:cNvPr>
          <p:cNvCxnSpPr/>
          <p:nvPr/>
        </p:nvCxnSpPr>
        <p:spPr>
          <a:xfrm>
            <a:off x="5598367" y="3797559"/>
            <a:ext cx="0" cy="373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04383C-7263-8B21-6984-1ADB9D07BA9D}"/>
              </a:ext>
            </a:extLst>
          </p:cNvPr>
          <p:cNvCxnSpPr/>
          <p:nvPr/>
        </p:nvCxnSpPr>
        <p:spPr>
          <a:xfrm>
            <a:off x="5598367" y="4170784"/>
            <a:ext cx="21740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0C28853-F7A1-2872-2FBF-DCF7E7C816D4}"/>
              </a:ext>
            </a:extLst>
          </p:cNvPr>
          <p:cNvCxnSpPr/>
          <p:nvPr/>
        </p:nvCxnSpPr>
        <p:spPr>
          <a:xfrm>
            <a:off x="7772400" y="4170784"/>
            <a:ext cx="0" cy="2799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8096123-B0AF-48EC-571F-0CE80CC40282}"/>
              </a:ext>
            </a:extLst>
          </p:cNvPr>
          <p:cNvCxnSpPr/>
          <p:nvPr/>
        </p:nvCxnSpPr>
        <p:spPr>
          <a:xfrm flipV="1">
            <a:off x="7949682" y="3508310"/>
            <a:ext cx="0" cy="9423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001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2B600-4A42-1305-8395-FD5E0C1F90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EC072-437C-0832-633F-BDAE0CD752EE}"/>
              </a:ext>
            </a:extLst>
          </p:cNvPr>
          <p:cNvSpPr>
            <a:spLocks noGrp="1"/>
          </p:cNvSpPr>
          <p:nvPr>
            <p:ph type="title"/>
          </p:nvPr>
        </p:nvSpPr>
        <p:spPr>
          <a:xfrm>
            <a:off x="1141413" y="0"/>
            <a:ext cx="9905998" cy="1478570"/>
          </a:xfrm>
        </p:spPr>
        <p:txBody>
          <a:bodyPr>
            <a:normAutofit/>
          </a:bodyPr>
          <a:lstStyle/>
          <a:p>
            <a:r>
              <a:rPr lang="en-US" sz="2400" b="1" dirty="0">
                <a:solidFill>
                  <a:schemeClr val="bg1"/>
                </a:solidFill>
              </a:rPr>
              <a:t>Circuit diagram</a:t>
            </a:r>
            <a:endParaRPr lang="en-IN" sz="2400" b="1" dirty="0">
              <a:solidFill>
                <a:schemeClr val="bg1"/>
              </a:solidFill>
            </a:endParaRPr>
          </a:p>
        </p:txBody>
      </p:sp>
      <p:pic>
        <p:nvPicPr>
          <p:cNvPr id="6" name="Content Placeholder 5">
            <a:extLst>
              <a:ext uri="{FF2B5EF4-FFF2-40B4-BE49-F238E27FC236}">
                <a16:creationId xmlns:a16="http://schemas.microsoft.com/office/drawing/2014/main" id="{55E8A4BC-1A08-4D68-5E37-EE8A8135C9C3}"/>
              </a:ext>
            </a:extLst>
          </p:cNvPr>
          <p:cNvPicPr>
            <a:picLocks noGrp="1" noChangeAspect="1"/>
          </p:cNvPicPr>
          <p:nvPr>
            <p:ph idx="1"/>
          </p:nvPr>
        </p:nvPicPr>
        <p:blipFill>
          <a:blip r:embed="rId2"/>
          <a:srcRect t="11757" b="4202"/>
          <a:stretch>
            <a:fillRect/>
          </a:stretch>
        </p:blipFill>
        <p:spPr>
          <a:xfrm rot="16200000">
            <a:off x="3742418" y="-854431"/>
            <a:ext cx="4703987" cy="9209315"/>
          </a:xfrm>
        </p:spPr>
      </p:pic>
    </p:spTree>
    <p:extLst>
      <p:ext uri="{BB962C8B-B14F-4D97-AF65-F5344CB8AC3E}">
        <p14:creationId xmlns:p14="http://schemas.microsoft.com/office/powerpoint/2010/main" val="4166891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0010F-3A12-28C6-EB43-869E549E5CCD}"/>
              </a:ext>
            </a:extLst>
          </p:cNvPr>
          <p:cNvSpPr>
            <a:spLocks noGrp="1"/>
          </p:cNvSpPr>
          <p:nvPr>
            <p:ph type="title"/>
          </p:nvPr>
        </p:nvSpPr>
        <p:spPr>
          <a:xfrm>
            <a:off x="1141413" y="0"/>
            <a:ext cx="9905998" cy="1478570"/>
          </a:xfrm>
        </p:spPr>
        <p:txBody>
          <a:bodyPr>
            <a:normAutofit/>
          </a:bodyPr>
          <a:lstStyle/>
          <a:p>
            <a:r>
              <a:rPr lang="en-US" sz="2400" b="1" dirty="0">
                <a:solidFill>
                  <a:schemeClr val="bg1"/>
                </a:solidFill>
                <a:latin typeface="+mn-lt"/>
              </a:rPr>
              <a:t>Circuit connections</a:t>
            </a:r>
            <a:endParaRPr lang="en-IN" sz="2400" b="1" dirty="0">
              <a:solidFill>
                <a:schemeClr val="bg1"/>
              </a:solidFill>
              <a:latin typeface="+mn-lt"/>
            </a:endParaRPr>
          </a:p>
        </p:txBody>
      </p:sp>
      <p:sp>
        <p:nvSpPr>
          <p:cNvPr id="5" name="Content Placeholder 4">
            <a:extLst>
              <a:ext uri="{FF2B5EF4-FFF2-40B4-BE49-F238E27FC236}">
                <a16:creationId xmlns:a16="http://schemas.microsoft.com/office/drawing/2014/main" id="{221DC77B-2245-6C47-2D4F-C4727720019E}"/>
              </a:ext>
            </a:extLst>
          </p:cNvPr>
          <p:cNvSpPr>
            <a:spLocks noGrp="1"/>
          </p:cNvSpPr>
          <p:nvPr>
            <p:ph idx="1"/>
          </p:nvPr>
        </p:nvSpPr>
        <p:spPr>
          <a:xfrm>
            <a:off x="1141413" y="1396885"/>
            <a:ext cx="9905999" cy="4378763"/>
          </a:xfrm>
        </p:spPr>
        <p:txBody>
          <a:bodyPr>
            <a:normAutofit fontScale="77500" lnSpcReduction="20000"/>
          </a:bodyPr>
          <a:lstStyle/>
          <a:p>
            <a:pPr marL="0" indent="0">
              <a:spcBef>
                <a:spcPts val="0"/>
              </a:spcBef>
              <a:buNone/>
            </a:pPr>
            <a:r>
              <a:rPr lang="en-US" sz="2200" dirty="0">
                <a:solidFill>
                  <a:schemeClr val="bg1"/>
                </a:solidFill>
              </a:rPr>
              <a:t>1)Potentiometer:</a:t>
            </a:r>
          </a:p>
          <a:p>
            <a:pPr marL="0" indent="0">
              <a:spcBef>
                <a:spcPts val="0"/>
              </a:spcBef>
              <a:buNone/>
            </a:pPr>
            <a:r>
              <a:rPr lang="en-US" sz="2200" dirty="0">
                <a:solidFill>
                  <a:schemeClr val="bg1"/>
                </a:solidFill>
              </a:rPr>
              <a:t>One terminal → 5V (Arduino)</a:t>
            </a:r>
          </a:p>
          <a:p>
            <a:pPr marL="0" indent="0">
              <a:spcBef>
                <a:spcPts val="0"/>
              </a:spcBef>
              <a:buNone/>
            </a:pPr>
            <a:r>
              <a:rPr lang="en-US" sz="2200" dirty="0">
                <a:solidFill>
                  <a:schemeClr val="bg1"/>
                </a:solidFill>
              </a:rPr>
              <a:t>Second terminal → GND Middle </a:t>
            </a:r>
          </a:p>
          <a:p>
            <a:pPr marL="0" indent="0">
              <a:spcBef>
                <a:spcPts val="0"/>
              </a:spcBef>
              <a:buNone/>
            </a:pPr>
            <a:r>
              <a:rPr lang="en-US" sz="2200" dirty="0">
                <a:solidFill>
                  <a:schemeClr val="bg1"/>
                </a:solidFill>
              </a:rPr>
              <a:t>(wiper) terminal → A0 (Analog input)</a:t>
            </a:r>
          </a:p>
          <a:p>
            <a:pPr marL="0" indent="0">
              <a:spcBef>
                <a:spcPts val="0"/>
              </a:spcBef>
              <a:buNone/>
            </a:pPr>
            <a:endParaRPr lang="en-US" sz="2200" dirty="0">
              <a:solidFill>
                <a:schemeClr val="bg1"/>
              </a:solidFill>
            </a:endParaRPr>
          </a:p>
          <a:p>
            <a:pPr marL="0" indent="0">
              <a:spcBef>
                <a:spcPts val="0"/>
              </a:spcBef>
              <a:buNone/>
            </a:pPr>
            <a:r>
              <a:rPr lang="en-US" sz="2200" dirty="0">
                <a:solidFill>
                  <a:schemeClr val="bg1"/>
                </a:solidFill>
              </a:rPr>
              <a:t>2)L293D Motor Driver:</a:t>
            </a:r>
          </a:p>
          <a:p>
            <a:pPr marL="0" indent="0">
              <a:spcBef>
                <a:spcPts val="0"/>
              </a:spcBef>
              <a:buNone/>
            </a:pPr>
            <a:r>
              <a:rPr lang="en-US" sz="2200" dirty="0">
                <a:solidFill>
                  <a:schemeClr val="bg1"/>
                </a:solidFill>
              </a:rPr>
              <a:t>IN3 → D5 (Arduino digital pin)</a:t>
            </a:r>
          </a:p>
          <a:p>
            <a:pPr marL="0" indent="0">
              <a:spcBef>
                <a:spcPts val="0"/>
              </a:spcBef>
              <a:buNone/>
            </a:pPr>
            <a:r>
              <a:rPr lang="en-US" sz="2200" dirty="0">
                <a:solidFill>
                  <a:schemeClr val="bg1"/>
                </a:solidFill>
              </a:rPr>
              <a:t>IN4 → D3 (Arduino digital pin)</a:t>
            </a:r>
          </a:p>
          <a:p>
            <a:pPr marL="0" indent="0">
              <a:spcBef>
                <a:spcPts val="0"/>
              </a:spcBef>
              <a:buNone/>
            </a:pPr>
            <a:r>
              <a:rPr lang="en-US" sz="2200" dirty="0">
                <a:solidFill>
                  <a:schemeClr val="bg1"/>
                </a:solidFill>
              </a:rPr>
              <a:t>EN2 → D6 (PWM pin for speed control)</a:t>
            </a:r>
          </a:p>
          <a:p>
            <a:pPr marL="0" indent="0">
              <a:spcBef>
                <a:spcPts val="0"/>
              </a:spcBef>
              <a:buNone/>
            </a:pPr>
            <a:r>
              <a:rPr lang="en-US" sz="2200" dirty="0">
                <a:solidFill>
                  <a:schemeClr val="bg1"/>
                </a:solidFill>
              </a:rPr>
              <a:t>Vcc1 (Pin 16) → 5V (Logic supply)</a:t>
            </a:r>
          </a:p>
          <a:p>
            <a:pPr marL="0" indent="0">
              <a:spcBef>
                <a:spcPts val="0"/>
              </a:spcBef>
              <a:buNone/>
            </a:pPr>
            <a:r>
              <a:rPr lang="en-US" sz="2200" dirty="0">
                <a:solidFill>
                  <a:schemeClr val="bg1"/>
                </a:solidFill>
              </a:rPr>
              <a:t>Vcc2 (Pin 8) → External motor supply (6–12V as per motor rating)</a:t>
            </a:r>
          </a:p>
          <a:p>
            <a:pPr marL="0" indent="0">
              <a:spcBef>
                <a:spcPts val="0"/>
              </a:spcBef>
              <a:buNone/>
            </a:pPr>
            <a:r>
              <a:rPr lang="en-US" sz="2200" dirty="0">
                <a:solidFill>
                  <a:schemeClr val="bg1"/>
                </a:solidFill>
              </a:rPr>
              <a:t>GND (Pins 4, 5, 12, 13) → Common Ground (Arduino + Motor supply)</a:t>
            </a:r>
          </a:p>
          <a:p>
            <a:pPr marL="0" indent="0">
              <a:spcBef>
                <a:spcPts val="0"/>
              </a:spcBef>
              <a:buNone/>
            </a:pPr>
            <a:r>
              <a:rPr lang="en-US" sz="2200" dirty="0">
                <a:solidFill>
                  <a:schemeClr val="bg1"/>
                </a:solidFill>
              </a:rPr>
              <a:t>OUT3 &amp; OUT4 → DC Motor terminals</a:t>
            </a:r>
          </a:p>
          <a:p>
            <a:pPr marL="0" indent="0">
              <a:spcBef>
                <a:spcPts val="0"/>
              </a:spcBef>
              <a:buNone/>
            </a:pPr>
            <a:endParaRPr lang="en-US" sz="2200" dirty="0">
              <a:solidFill>
                <a:schemeClr val="bg1"/>
              </a:solidFill>
            </a:endParaRPr>
          </a:p>
          <a:p>
            <a:pPr marL="0" indent="0">
              <a:spcBef>
                <a:spcPts val="0"/>
              </a:spcBef>
              <a:buNone/>
            </a:pPr>
            <a:r>
              <a:rPr lang="en-US" sz="2200" dirty="0">
                <a:solidFill>
                  <a:schemeClr val="bg1"/>
                </a:solidFill>
              </a:rPr>
              <a:t>3)Common Ground:</a:t>
            </a:r>
          </a:p>
          <a:p>
            <a:pPr marL="0" indent="0">
              <a:spcBef>
                <a:spcPts val="0"/>
              </a:spcBef>
              <a:buNone/>
            </a:pPr>
            <a:r>
              <a:rPr lang="en-US" sz="2200" dirty="0">
                <a:solidFill>
                  <a:schemeClr val="bg1"/>
                </a:solidFill>
              </a:rPr>
              <a:t>Connect the Arduino GND and Motor Power GND together.</a:t>
            </a:r>
            <a:endParaRPr lang="en-IN" dirty="0">
              <a:solidFill>
                <a:schemeClr val="bg1"/>
              </a:solidFill>
            </a:endParaRPr>
          </a:p>
        </p:txBody>
      </p:sp>
    </p:spTree>
    <p:extLst>
      <p:ext uri="{BB962C8B-B14F-4D97-AF65-F5344CB8AC3E}">
        <p14:creationId xmlns:p14="http://schemas.microsoft.com/office/powerpoint/2010/main" val="914040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29294-C101-581D-D33B-9A070CA0F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346B0-2EC0-54E4-4A0C-61E94FCC4B07}"/>
              </a:ext>
            </a:extLst>
          </p:cNvPr>
          <p:cNvSpPr>
            <a:spLocks noGrp="1"/>
          </p:cNvSpPr>
          <p:nvPr>
            <p:ph type="title"/>
          </p:nvPr>
        </p:nvSpPr>
        <p:spPr>
          <a:xfrm>
            <a:off x="1141413" y="0"/>
            <a:ext cx="9905998" cy="1278294"/>
          </a:xfrm>
        </p:spPr>
        <p:txBody>
          <a:bodyPr>
            <a:normAutofit/>
          </a:bodyPr>
          <a:lstStyle/>
          <a:p>
            <a:r>
              <a:rPr lang="en-US" sz="2400" b="1" dirty="0">
                <a:solidFill>
                  <a:schemeClr val="bg1"/>
                </a:solidFill>
                <a:latin typeface="+mn-lt"/>
              </a:rPr>
              <a:t>Arduino code</a:t>
            </a:r>
            <a:endParaRPr lang="en-IN" sz="2400" b="1" dirty="0">
              <a:solidFill>
                <a:schemeClr val="bg1"/>
              </a:solidFill>
              <a:latin typeface="+mn-lt"/>
            </a:endParaRPr>
          </a:p>
        </p:txBody>
      </p:sp>
      <p:pic>
        <p:nvPicPr>
          <p:cNvPr id="4" name="Content Placeholder 3">
            <a:extLst>
              <a:ext uri="{FF2B5EF4-FFF2-40B4-BE49-F238E27FC236}">
                <a16:creationId xmlns:a16="http://schemas.microsoft.com/office/drawing/2014/main" id="{4264E8E5-1061-35AE-09C1-7ABDB63E56EC}"/>
              </a:ext>
            </a:extLst>
          </p:cNvPr>
          <p:cNvPicPr>
            <a:picLocks noGrp="1" noChangeAspect="1"/>
          </p:cNvPicPr>
          <p:nvPr>
            <p:ph idx="1"/>
          </p:nvPr>
        </p:nvPicPr>
        <p:blipFill>
          <a:blip r:embed="rId2"/>
          <a:stretch>
            <a:fillRect/>
          </a:stretch>
        </p:blipFill>
        <p:spPr>
          <a:xfrm>
            <a:off x="1382158" y="755780"/>
            <a:ext cx="3926960" cy="5744450"/>
          </a:xfrm>
        </p:spPr>
      </p:pic>
      <p:pic>
        <p:nvPicPr>
          <p:cNvPr id="7" name="Picture 6">
            <a:extLst>
              <a:ext uri="{FF2B5EF4-FFF2-40B4-BE49-F238E27FC236}">
                <a16:creationId xmlns:a16="http://schemas.microsoft.com/office/drawing/2014/main" id="{3D9C664C-2F16-0E5B-C6C4-A7950BAB7F6A}"/>
              </a:ext>
            </a:extLst>
          </p:cNvPr>
          <p:cNvPicPr>
            <a:picLocks noChangeAspect="1"/>
          </p:cNvPicPr>
          <p:nvPr/>
        </p:nvPicPr>
        <p:blipFill>
          <a:blip r:embed="rId3"/>
          <a:stretch>
            <a:fillRect/>
          </a:stretch>
        </p:blipFill>
        <p:spPr>
          <a:xfrm>
            <a:off x="6540759" y="755780"/>
            <a:ext cx="4505064" cy="5744450"/>
          </a:xfrm>
          <a:prstGeom prst="rect">
            <a:avLst/>
          </a:prstGeom>
        </p:spPr>
      </p:pic>
    </p:spTree>
    <p:extLst>
      <p:ext uri="{BB962C8B-B14F-4D97-AF65-F5344CB8AC3E}">
        <p14:creationId xmlns:p14="http://schemas.microsoft.com/office/powerpoint/2010/main" val="357512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ECAEF-B291-72D8-FE0A-181FD5F00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5A344-0494-2E44-D2F9-07BB49ED0296}"/>
              </a:ext>
            </a:extLst>
          </p:cNvPr>
          <p:cNvSpPr>
            <a:spLocks noGrp="1"/>
          </p:cNvSpPr>
          <p:nvPr>
            <p:ph type="title"/>
          </p:nvPr>
        </p:nvSpPr>
        <p:spPr>
          <a:xfrm>
            <a:off x="1141413" y="0"/>
            <a:ext cx="9905998" cy="1478570"/>
          </a:xfrm>
        </p:spPr>
        <p:txBody>
          <a:bodyPr>
            <a:normAutofit/>
          </a:bodyPr>
          <a:lstStyle/>
          <a:p>
            <a:r>
              <a:rPr lang="en-US" sz="2400" b="1" dirty="0">
                <a:solidFill>
                  <a:schemeClr val="bg1"/>
                </a:solidFill>
                <a:latin typeface="+mn-lt"/>
              </a:rPr>
              <a:t>results</a:t>
            </a:r>
            <a:endParaRPr lang="en-IN" sz="2400" b="1" dirty="0">
              <a:solidFill>
                <a:schemeClr val="bg1"/>
              </a:solidFill>
              <a:latin typeface="+mn-lt"/>
            </a:endParaRPr>
          </a:p>
        </p:txBody>
      </p:sp>
      <p:sp>
        <p:nvSpPr>
          <p:cNvPr id="5" name="Content Placeholder 4">
            <a:extLst>
              <a:ext uri="{FF2B5EF4-FFF2-40B4-BE49-F238E27FC236}">
                <a16:creationId xmlns:a16="http://schemas.microsoft.com/office/drawing/2014/main" id="{350F0263-5E25-9F7D-7E29-1E4C79701337}"/>
              </a:ext>
            </a:extLst>
          </p:cNvPr>
          <p:cNvSpPr>
            <a:spLocks noGrp="1"/>
          </p:cNvSpPr>
          <p:nvPr>
            <p:ph idx="1"/>
          </p:nvPr>
        </p:nvSpPr>
        <p:spPr>
          <a:xfrm>
            <a:off x="1141412" y="1182281"/>
            <a:ext cx="9905999" cy="1478571"/>
          </a:xfrm>
        </p:spPr>
        <p:txBody>
          <a:bodyPr>
            <a:normAutofit fontScale="92500"/>
          </a:bodyPr>
          <a:lstStyle/>
          <a:p>
            <a:pPr marL="0" indent="0">
              <a:spcBef>
                <a:spcPts val="0"/>
              </a:spcBef>
              <a:buNone/>
            </a:pPr>
            <a:r>
              <a:rPr lang="en-US" sz="2000" dirty="0">
                <a:solidFill>
                  <a:schemeClr val="bg1"/>
                </a:solidFill>
              </a:rPr>
              <a:t>The motor speed changed linearly with potentiometer rotation. When the potentiometer knob was in the mid-position, the motor stopped. Turning clockwise increased speed in the forward direction, while counter-clockwise rotation caused reverse motion. PWM output from Arduino ensured smooth speed variation without jerks. The overall setup consumed less power and operated reliably.</a:t>
            </a:r>
            <a:endParaRPr lang="en-IN" sz="2000" dirty="0">
              <a:solidFill>
                <a:schemeClr val="bg1"/>
              </a:solidFill>
            </a:endParaRPr>
          </a:p>
        </p:txBody>
      </p:sp>
      <p:pic>
        <p:nvPicPr>
          <p:cNvPr id="9" name="Picture 8">
            <a:extLst>
              <a:ext uri="{FF2B5EF4-FFF2-40B4-BE49-F238E27FC236}">
                <a16:creationId xmlns:a16="http://schemas.microsoft.com/office/drawing/2014/main" id="{33A3CDE1-391B-77DC-16D9-696452168CFA}"/>
              </a:ext>
            </a:extLst>
          </p:cNvPr>
          <p:cNvPicPr>
            <a:picLocks noChangeAspect="1"/>
          </p:cNvPicPr>
          <p:nvPr/>
        </p:nvPicPr>
        <p:blipFill>
          <a:blip r:embed="rId2"/>
          <a:stretch>
            <a:fillRect/>
          </a:stretch>
        </p:blipFill>
        <p:spPr>
          <a:xfrm rot="16200000">
            <a:off x="1673485" y="1934741"/>
            <a:ext cx="3602783" cy="5497284"/>
          </a:xfrm>
          <a:prstGeom prst="rect">
            <a:avLst/>
          </a:prstGeom>
        </p:spPr>
      </p:pic>
      <p:pic>
        <p:nvPicPr>
          <p:cNvPr id="13" name="Picture 12">
            <a:extLst>
              <a:ext uri="{FF2B5EF4-FFF2-40B4-BE49-F238E27FC236}">
                <a16:creationId xmlns:a16="http://schemas.microsoft.com/office/drawing/2014/main" id="{3D7E0D63-D25F-E3AE-3F22-759E0D55D53C}"/>
              </a:ext>
            </a:extLst>
          </p:cNvPr>
          <p:cNvPicPr>
            <a:picLocks noChangeAspect="1"/>
          </p:cNvPicPr>
          <p:nvPr/>
        </p:nvPicPr>
        <p:blipFill>
          <a:blip r:embed="rId3"/>
          <a:stretch>
            <a:fillRect/>
          </a:stretch>
        </p:blipFill>
        <p:spPr>
          <a:xfrm>
            <a:off x="6611905" y="3064133"/>
            <a:ext cx="5219700" cy="3238500"/>
          </a:xfrm>
          <a:prstGeom prst="rect">
            <a:avLst/>
          </a:prstGeom>
        </p:spPr>
      </p:pic>
    </p:spTree>
    <p:extLst>
      <p:ext uri="{BB962C8B-B14F-4D97-AF65-F5344CB8AC3E}">
        <p14:creationId xmlns:p14="http://schemas.microsoft.com/office/powerpoint/2010/main" val="385111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3001" y="1613668"/>
            <a:ext cx="9905998" cy="3630663"/>
          </a:xfrm>
        </p:spPr>
        <p:txBody>
          <a:bodyPr>
            <a:normAutofit/>
          </a:bodyPr>
          <a:lstStyle/>
          <a:p>
            <a:r>
              <a:rPr lang="en-US" sz="2000" cap="none" dirty="0">
                <a:solidFill>
                  <a:schemeClr val="bg1"/>
                </a:solidFill>
                <a:latin typeface="+mn-lt"/>
              </a:rPr>
              <a:t>1)”DC motor control using </a:t>
            </a:r>
            <a:r>
              <a:rPr lang="en-US" sz="2000" cap="none" dirty="0" err="1">
                <a:solidFill>
                  <a:schemeClr val="bg1"/>
                </a:solidFill>
                <a:latin typeface="+mn-lt"/>
              </a:rPr>
              <a:t>arduino</a:t>
            </a:r>
            <a:r>
              <a:rPr lang="en-US" sz="2000" cap="none" dirty="0">
                <a:solidFill>
                  <a:schemeClr val="bg1"/>
                </a:solidFill>
                <a:latin typeface="+mn-lt"/>
              </a:rPr>
              <a:t>”, circuit digest, </a:t>
            </a:r>
            <a:r>
              <a:rPr lang="en-IN" sz="2000" cap="none" dirty="0">
                <a:solidFill>
                  <a:schemeClr val="bg1"/>
                </a:solidFill>
                <a:latin typeface="+mn-lt"/>
              </a:rPr>
              <a:t>June 7, 2015 by Dinesh Raja. </a:t>
            </a:r>
            <a:r>
              <a:rPr lang="en-IN" sz="2000" cap="none" dirty="0">
                <a:solidFill>
                  <a:schemeClr val="bg1"/>
                </a:solidFill>
                <a:latin typeface="+mn-lt"/>
                <a:hlinkClick r:id="rId2">
                  <a:extLst>
                    <a:ext uri="{A12FA001-AC4F-418D-AE19-62706E023703}">
                      <ahyp:hlinkClr xmlns:ahyp="http://schemas.microsoft.com/office/drawing/2018/hyperlinkcolor" val="tx"/>
                    </a:ext>
                  </a:extLst>
                </a:hlinkClick>
              </a:rPr>
              <a:t>WEBSITE</a:t>
            </a:r>
            <a:br>
              <a:rPr lang="en-US" sz="2000" cap="none" dirty="0">
                <a:solidFill>
                  <a:schemeClr val="bg1"/>
                </a:solidFill>
                <a:latin typeface="+mn-lt"/>
              </a:rPr>
            </a:br>
            <a:br>
              <a:rPr lang="en-US" sz="2000" cap="none" dirty="0">
                <a:solidFill>
                  <a:schemeClr val="bg1"/>
                </a:solidFill>
                <a:latin typeface="+mn-lt"/>
              </a:rPr>
            </a:br>
            <a:r>
              <a:rPr lang="en-US" sz="2000" cap="none" dirty="0">
                <a:solidFill>
                  <a:schemeClr val="bg1"/>
                </a:solidFill>
                <a:latin typeface="+mn-lt"/>
              </a:rPr>
              <a:t>2) </a:t>
            </a:r>
            <a:r>
              <a:rPr lang="en-IN" sz="2000" cap="none" dirty="0">
                <a:solidFill>
                  <a:schemeClr val="bg1"/>
                </a:solidFill>
                <a:latin typeface="+mn-lt"/>
              </a:rPr>
              <a:t>Mrs. </a:t>
            </a:r>
            <a:r>
              <a:rPr lang="en-IN" sz="2000" cap="none" dirty="0" err="1">
                <a:solidFill>
                  <a:schemeClr val="bg1"/>
                </a:solidFill>
                <a:latin typeface="+mn-lt"/>
              </a:rPr>
              <a:t>A.Gamyaveni</a:t>
            </a:r>
            <a:r>
              <a:rPr lang="en-IN" sz="2000" cap="none" dirty="0">
                <a:solidFill>
                  <a:schemeClr val="bg1"/>
                </a:solidFill>
                <a:latin typeface="+mn-lt"/>
              </a:rPr>
              <a:t>, ”</a:t>
            </a:r>
            <a:r>
              <a:rPr lang="en-US" sz="2000" cap="none" dirty="0">
                <a:solidFill>
                  <a:schemeClr val="bg1"/>
                </a:solidFill>
                <a:latin typeface="+mn-lt"/>
              </a:rPr>
              <a:t>controlling the DC motor speed with PWM using </a:t>
            </a:r>
            <a:r>
              <a:rPr lang="en-US" sz="2000" cap="none" dirty="0" err="1">
                <a:solidFill>
                  <a:schemeClr val="bg1"/>
                </a:solidFill>
                <a:latin typeface="+mn-lt"/>
              </a:rPr>
              <a:t>arduino</a:t>
            </a:r>
            <a:r>
              <a:rPr lang="en-US" sz="2000" cap="none" dirty="0">
                <a:solidFill>
                  <a:schemeClr val="bg1"/>
                </a:solidFill>
                <a:latin typeface="+mn-lt"/>
              </a:rPr>
              <a:t>” 2024 IJCRT, volume 12, issue 3 march 2024. </a:t>
            </a:r>
            <a:r>
              <a:rPr lang="en-US" sz="2000" cap="none" dirty="0">
                <a:solidFill>
                  <a:schemeClr val="bg1"/>
                </a:solidFill>
                <a:latin typeface="+mn-lt"/>
                <a:hlinkClick r:id="rId3">
                  <a:extLst>
                    <a:ext uri="{A12FA001-AC4F-418D-AE19-62706E023703}">
                      <ahyp:hlinkClr xmlns:ahyp="http://schemas.microsoft.com/office/drawing/2018/hyperlinkcolor" val="tx"/>
                    </a:ext>
                  </a:extLst>
                </a:hlinkClick>
              </a:rPr>
              <a:t>PDF</a:t>
            </a:r>
            <a:br>
              <a:rPr lang="en-US" sz="2000" cap="none" dirty="0">
                <a:solidFill>
                  <a:schemeClr val="bg1"/>
                </a:solidFill>
                <a:latin typeface="+mn-lt"/>
              </a:rPr>
            </a:br>
            <a:br>
              <a:rPr lang="en-US" sz="2000" cap="none" dirty="0">
                <a:solidFill>
                  <a:schemeClr val="bg1"/>
                </a:solidFill>
                <a:latin typeface="+mn-lt"/>
              </a:rPr>
            </a:br>
            <a:r>
              <a:rPr lang="en-US" sz="2000" cap="none" dirty="0">
                <a:solidFill>
                  <a:schemeClr val="bg1"/>
                </a:solidFill>
                <a:latin typeface="+mn-lt"/>
              </a:rPr>
              <a:t>3) Rukmini, M. Rathi and M. S. </a:t>
            </a:r>
            <a:r>
              <a:rPr lang="en-US" sz="2000" cap="none" dirty="0" err="1">
                <a:solidFill>
                  <a:schemeClr val="bg1"/>
                </a:solidFill>
                <a:latin typeface="+mn-lt"/>
              </a:rPr>
              <a:t>Aspalli</a:t>
            </a:r>
            <a:r>
              <a:rPr lang="en-US" sz="2000" cap="none" dirty="0">
                <a:solidFill>
                  <a:schemeClr val="bg1"/>
                </a:solidFill>
                <a:latin typeface="+mn-lt"/>
              </a:rPr>
              <a:t>, "Speed Control of DC Motor using PWM Technique," 2024 5th IEEE Global Conference for Advancement in Technology (GCAT), Bangalore, India, 2024, pp. 1-6, </a:t>
            </a:r>
            <a:r>
              <a:rPr lang="en-US" sz="2000" cap="none" dirty="0" err="1">
                <a:solidFill>
                  <a:schemeClr val="bg1"/>
                </a:solidFill>
                <a:latin typeface="+mn-lt"/>
              </a:rPr>
              <a:t>doi</a:t>
            </a:r>
            <a:r>
              <a:rPr lang="en-US" sz="2000" cap="none" dirty="0">
                <a:solidFill>
                  <a:schemeClr val="bg1"/>
                </a:solidFill>
                <a:latin typeface="+mn-lt"/>
              </a:rPr>
              <a:t>: 10.1109/GCAT62922.2024.10923985. </a:t>
            </a:r>
            <a:r>
              <a:rPr lang="en-US" sz="2000" cap="none" dirty="0">
                <a:solidFill>
                  <a:schemeClr val="bg1"/>
                </a:solidFill>
                <a:latin typeface="+mn-lt"/>
                <a:hlinkClick r:id="rId4">
                  <a:extLst>
                    <a:ext uri="{A12FA001-AC4F-418D-AE19-62706E023703}">
                      <ahyp:hlinkClr xmlns:ahyp="http://schemas.microsoft.com/office/drawing/2018/hyperlinkcolor" val="tx"/>
                    </a:ext>
                  </a:extLst>
                </a:hlinkClick>
              </a:rPr>
              <a:t>WEBSITE</a:t>
            </a:r>
            <a:br>
              <a:rPr lang="en-US" sz="2000" cap="none" dirty="0">
                <a:solidFill>
                  <a:schemeClr val="bg1"/>
                </a:solidFill>
                <a:latin typeface="+mn-lt"/>
              </a:rPr>
            </a:br>
            <a:br>
              <a:rPr lang="en-US" sz="2000" cap="none" dirty="0">
                <a:solidFill>
                  <a:schemeClr val="bg1"/>
                </a:solidFill>
                <a:latin typeface="+mn-lt"/>
              </a:rPr>
            </a:br>
            <a:r>
              <a:rPr lang="en-US" sz="2000" cap="none" dirty="0">
                <a:solidFill>
                  <a:schemeClr val="bg1"/>
                </a:solidFill>
                <a:latin typeface="+mn-lt"/>
              </a:rPr>
              <a:t>4) Tesfaye, H.K. And </a:t>
            </a:r>
            <a:r>
              <a:rPr lang="en-US" sz="2000" cap="none" dirty="0" err="1">
                <a:solidFill>
                  <a:schemeClr val="bg1"/>
                </a:solidFill>
                <a:latin typeface="+mn-lt"/>
              </a:rPr>
              <a:t>liu</a:t>
            </a:r>
            <a:r>
              <a:rPr lang="en-US" sz="2000" cap="none" dirty="0">
                <a:solidFill>
                  <a:schemeClr val="bg1"/>
                </a:solidFill>
                <a:latin typeface="+mn-lt"/>
              </a:rPr>
              <a:t>, J. (2025) “Speed and direction control of DC motor using </a:t>
            </a:r>
            <a:r>
              <a:rPr lang="en-US" sz="2000" cap="none" dirty="0" err="1">
                <a:solidFill>
                  <a:schemeClr val="bg1"/>
                </a:solidFill>
                <a:latin typeface="+mn-lt"/>
              </a:rPr>
              <a:t>arduino</a:t>
            </a:r>
            <a:r>
              <a:rPr lang="en-US" sz="2000" cap="none" dirty="0">
                <a:solidFill>
                  <a:schemeClr val="bg1"/>
                </a:solidFill>
                <a:latin typeface="+mn-lt"/>
              </a:rPr>
              <a:t> uno microcontroller” Scientific Research, Vol.12 no.3, March 2025 </a:t>
            </a:r>
            <a:r>
              <a:rPr lang="en-IN" sz="2000" dirty="0">
                <a:solidFill>
                  <a:schemeClr val="bg1"/>
                </a:solidFill>
                <a:latin typeface="+mn-lt"/>
              </a:rPr>
              <a:t>DOI: 10.4236/oalib.1113007. </a:t>
            </a:r>
            <a:r>
              <a:rPr lang="en-IN" sz="2000" b="1" dirty="0">
                <a:solidFill>
                  <a:schemeClr val="bg1"/>
                </a:solidFill>
                <a:latin typeface="+mn-lt"/>
                <a:hlinkClick r:id="rId5">
                  <a:extLst>
                    <a:ext uri="{A12FA001-AC4F-418D-AE19-62706E023703}">
                      <ahyp:hlinkClr xmlns:ahyp="http://schemas.microsoft.com/office/drawing/2018/hyperlinkcolor" val="tx"/>
                    </a:ext>
                  </a:extLst>
                </a:hlinkClick>
              </a:rPr>
              <a:t>PDF</a:t>
            </a:r>
            <a:r>
              <a:rPr lang="en-IN" sz="2000" b="1" dirty="0">
                <a:solidFill>
                  <a:schemeClr val="bg1"/>
                </a:solidFill>
                <a:latin typeface="+mn-lt"/>
              </a:rPr>
              <a:t>.</a:t>
            </a:r>
            <a:endParaRPr lang="en-US" sz="2000" dirty="0">
              <a:solidFill>
                <a:schemeClr val="bg1"/>
              </a:solidFill>
              <a:latin typeface="+mn-lt"/>
            </a:endParaRPr>
          </a:p>
        </p:txBody>
      </p:sp>
      <p:sp>
        <p:nvSpPr>
          <p:cNvPr id="3" name="Title 1">
            <a:extLst>
              <a:ext uri="{FF2B5EF4-FFF2-40B4-BE49-F238E27FC236}">
                <a16:creationId xmlns:a16="http://schemas.microsoft.com/office/drawing/2014/main" id="{8429113A-5DEE-6189-3DF9-22AB7A522728}"/>
              </a:ext>
            </a:extLst>
          </p:cNvPr>
          <p:cNvSpPr txBox="1">
            <a:spLocks/>
          </p:cNvSpPr>
          <p:nvPr/>
        </p:nvSpPr>
        <p:spPr>
          <a:xfrm>
            <a:off x="1141413" y="0"/>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2400" b="1" dirty="0">
                <a:solidFill>
                  <a:schemeClr val="bg1"/>
                </a:solidFill>
              </a:rPr>
              <a:t>REFERENCE</a:t>
            </a:r>
          </a:p>
        </p:txBody>
      </p:sp>
    </p:spTree>
    <p:extLst>
      <p:ext uri="{BB962C8B-B14F-4D97-AF65-F5344CB8AC3E}">
        <p14:creationId xmlns:p14="http://schemas.microsoft.com/office/powerpoint/2010/main" val="21721794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579702B-25C7-40D7-9E29-7686B11A9660}">
  <ds:schemaRefs>
    <ds:schemaRef ds:uri="http://schemas.microsoft.com/sharepoint/v3/contenttype/forms"/>
  </ds:schemaRefs>
</ds:datastoreItem>
</file>

<file path=customXml/itemProps3.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275</TotalTime>
  <Words>996</Words>
  <Application>Microsoft Office PowerPoint</Application>
  <PresentationFormat>Widescreen</PresentationFormat>
  <Paragraphs>70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Tw Cen MT</vt:lpstr>
      <vt:lpstr>Circuit</vt:lpstr>
      <vt:lpstr>Speed control of dc motor using Arduino(pwm method)</vt:lpstr>
      <vt:lpstr>Aim:- To design and implement a simple system to control the speed of a dc motor using pwm signals from an arduino.</vt:lpstr>
      <vt:lpstr>Introduction</vt:lpstr>
      <vt:lpstr>Literature review</vt:lpstr>
      <vt:lpstr>PowerPoint Presentation</vt:lpstr>
      <vt:lpstr>Block diagram</vt:lpstr>
      <vt:lpstr>Hardware parts</vt:lpstr>
      <vt:lpstr>PowerPoint Presentation</vt:lpstr>
      <vt:lpstr>Working principle</vt:lpstr>
      <vt:lpstr>Circuit diagram</vt:lpstr>
      <vt:lpstr>Circuit diagram</vt:lpstr>
      <vt:lpstr>Circuit connections</vt:lpstr>
      <vt:lpstr>Arduino code</vt:lpstr>
      <vt:lpstr>results</vt:lpstr>
      <vt:lpstr>1)”DC motor control using arduino”, circuit digest, June 7, 2015 by Dinesh Raja. WEBSITE  2) Mrs. A.Gamyaveni, ”controlling the DC motor speed with PWM using arduino” 2024 IJCRT, volume 12, issue 3 march 2024. PDF  3) Rukmini, M. Rathi and M. S. Aspalli, "Speed Control of DC Motor using PWM Technique," 2024 5th IEEE Global Conference for Advancement in Technology (GCAT), Bangalore, India, 2024, pp. 1-6, doi: 10.1109/GCAT62922.2024.10923985. WEBSITE  4) Tesfaye, H.K. And liu, J. (2025) “Speed and direction control of DC motor using arduino uno microcontroller” Scientific Research, Vol.12 no.3, March 2025 DOI: 10.4236/oalib.1113007. PDF.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Karan Pawar</dc:creator>
  <cp:lastModifiedBy>Karan Pawar</cp:lastModifiedBy>
  <cp:revision>8</cp:revision>
  <dcterms:created xsi:type="dcterms:W3CDTF">2025-08-07T17:53:34Z</dcterms:created>
  <dcterms:modified xsi:type="dcterms:W3CDTF">2025-11-05T06:25:18Z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